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7/27/2026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8852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7/27/2026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8096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7/27/2026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59316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7/27/2026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82430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7/27/2026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027391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7/27/2026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85895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7/27/2026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05981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7/27/2026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97234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7/27/2026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51096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7/27/2026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97825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7/27/2026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22535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7/27/2026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4267127322"/>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A4374D-F270-4C02-88D7-B751FD9BD6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pic>
        <p:nvPicPr>
          <p:cNvPr id="4" name="Picture 3">
            <a:extLst>
              <a:ext uri="{FF2B5EF4-FFF2-40B4-BE49-F238E27FC236}">
                <a16:creationId xmlns:a16="http://schemas.microsoft.com/office/drawing/2014/main" id="{EDCBDC22-3836-F329-8E65-EE37E8C59531}"/>
              </a:ext>
            </a:extLst>
          </p:cNvPr>
          <p:cNvPicPr>
            <a:picLocks noChangeAspect="1"/>
          </p:cNvPicPr>
          <p:nvPr/>
        </p:nvPicPr>
        <p:blipFill>
          <a:blip r:embed="rId2">
            <a:alphaModFix amt="60000"/>
          </a:blip>
          <a:srcRect t="1747"/>
          <a:stretch>
            <a:fillRect/>
          </a:stretch>
        </p:blipFill>
        <p:spPr>
          <a:xfrm>
            <a:off x="20" y="10"/>
            <a:ext cx="12191979" cy="6857989"/>
          </a:xfrm>
          <a:prstGeom prst="rect">
            <a:avLst/>
          </a:prstGeom>
        </p:spPr>
      </p:pic>
      <p:sp>
        <p:nvSpPr>
          <p:cNvPr id="13" name="Rectangle 12">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solidFill>
            <a:schemeClr val="bg1">
              <a:alpha val="95000"/>
            </a:schemeClr>
          </a:solidFill>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BD800F3-6A38-41E8-444F-7F958DEAB3F2}"/>
              </a:ext>
            </a:extLst>
          </p:cNvPr>
          <p:cNvSpPr>
            <a:spLocks noGrp="1"/>
          </p:cNvSpPr>
          <p:nvPr>
            <p:ph type="ctrTitle"/>
          </p:nvPr>
        </p:nvSpPr>
        <p:spPr>
          <a:xfrm>
            <a:off x="1804988" y="1442172"/>
            <a:ext cx="8582025" cy="2177328"/>
          </a:xfrm>
        </p:spPr>
        <p:txBody>
          <a:bodyPr anchor="ctr">
            <a:normAutofit/>
          </a:bodyPr>
          <a:lstStyle/>
          <a:p>
            <a:pPr algn="ctr"/>
            <a:r>
              <a:rPr lang="en-US" sz="7200"/>
              <a:t>Experiment 2</a:t>
            </a:r>
            <a:endParaRPr lang="en-IN" sz="7200"/>
          </a:p>
        </p:txBody>
      </p:sp>
      <p:sp>
        <p:nvSpPr>
          <p:cNvPr id="15" name="Rectangle: Rounded Corners 14">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3" name="Subtitle 2">
            <a:extLst>
              <a:ext uri="{FF2B5EF4-FFF2-40B4-BE49-F238E27FC236}">
                <a16:creationId xmlns:a16="http://schemas.microsoft.com/office/drawing/2014/main" id="{55624D5A-324B-0CC7-A78E-9A4E585FE18D}"/>
              </a:ext>
            </a:extLst>
          </p:cNvPr>
          <p:cNvSpPr>
            <a:spLocks noGrp="1"/>
          </p:cNvSpPr>
          <p:nvPr>
            <p:ph type="subTitle" idx="1"/>
          </p:nvPr>
        </p:nvSpPr>
        <p:spPr>
          <a:xfrm>
            <a:off x="2566988" y="3962400"/>
            <a:ext cx="7058025" cy="581025"/>
          </a:xfrm>
        </p:spPr>
        <p:txBody>
          <a:bodyPr anchor="ctr">
            <a:normAutofit/>
          </a:bodyPr>
          <a:lstStyle/>
          <a:p>
            <a:pPr algn="ctr"/>
            <a:r>
              <a:rPr lang="en-US" dirty="0">
                <a:solidFill>
                  <a:srgbClr val="FFFFFF"/>
                </a:solidFill>
              </a:rPr>
              <a:t>Distributed Computing</a:t>
            </a:r>
            <a:endParaRPr lang="en-IN" dirty="0">
              <a:solidFill>
                <a:srgbClr val="FFFFFF"/>
              </a:solidFill>
            </a:endParaRPr>
          </a:p>
        </p:txBody>
      </p:sp>
      <p:sp>
        <p:nvSpPr>
          <p:cNvPr id="6" name="Rectangle: Rounded Corners 5">
            <a:extLst>
              <a:ext uri="{FF2B5EF4-FFF2-40B4-BE49-F238E27FC236}">
                <a16:creationId xmlns:a16="http://schemas.microsoft.com/office/drawing/2014/main" id="{ECDDFE94-DD1F-AE7D-66AF-EA69E915B6D7}"/>
              </a:ext>
            </a:extLst>
          </p:cNvPr>
          <p:cNvSpPr/>
          <p:nvPr/>
        </p:nvSpPr>
        <p:spPr>
          <a:xfrm>
            <a:off x="8180439" y="5860026"/>
            <a:ext cx="3323303" cy="39329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Prof. Dhanashree Tamhane</a:t>
            </a:r>
            <a:endParaRPr lang="en-IN" dirty="0"/>
          </a:p>
        </p:txBody>
      </p:sp>
    </p:spTree>
    <p:extLst>
      <p:ext uri="{BB962C8B-B14F-4D97-AF65-F5344CB8AC3E}">
        <p14:creationId xmlns:p14="http://schemas.microsoft.com/office/powerpoint/2010/main" val="3986087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4929A06-F9B4-C797-2306-28F70653C004}"/>
              </a:ext>
            </a:extLst>
          </p:cNvPr>
          <p:cNvSpPr>
            <a:spLocks noGrp="1"/>
          </p:cNvSpPr>
          <p:nvPr>
            <p:ph type="title"/>
          </p:nvPr>
        </p:nvSpPr>
        <p:spPr>
          <a:xfrm>
            <a:off x="373625" y="344129"/>
            <a:ext cx="11465949" cy="704088"/>
          </a:xfrm>
        </p:spPr>
        <p:txBody>
          <a:bodyPr>
            <a:noAutofit/>
          </a:bodyPr>
          <a:lstStyle/>
          <a:p>
            <a:r>
              <a:rPr lang="en-US" sz="2400" b="1" i="1" dirty="0"/>
              <a:t>Title: </a:t>
            </a:r>
            <a:r>
              <a:rPr lang="en-IN" sz="2400" b="1" i="1" dirty="0"/>
              <a:t>Develop RPC APIs to Enable Communication Between Services for your mini project</a:t>
            </a:r>
          </a:p>
        </p:txBody>
      </p:sp>
      <p:sp>
        <p:nvSpPr>
          <p:cNvPr id="1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82D7E3C-E84F-6C90-BA45-1A214CDEE610}"/>
              </a:ext>
            </a:extLst>
          </p:cNvPr>
          <p:cNvSpPr>
            <a:spLocks noGrp="1"/>
          </p:cNvSpPr>
          <p:nvPr>
            <p:ph idx="1"/>
          </p:nvPr>
        </p:nvSpPr>
        <p:spPr>
          <a:xfrm>
            <a:off x="442452" y="1307691"/>
            <a:ext cx="10911348" cy="4864510"/>
          </a:xfrm>
        </p:spPr>
        <p:txBody>
          <a:bodyPr>
            <a:normAutofit/>
          </a:bodyPr>
          <a:lstStyle/>
          <a:p>
            <a:pPr marL="0" indent="0">
              <a:buNone/>
            </a:pPr>
            <a:r>
              <a:rPr lang="en-US" sz="1400" b="1" dirty="0"/>
              <a:t>Aim - </a:t>
            </a:r>
            <a:r>
              <a:rPr lang="en-IN" sz="1400" dirty="0"/>
              <a:t>To develop and implement RPC APIs using </a:t>
            </a:r>
            <a:r>
              <a:rPr lang="en-IN" sz="1400" dirty="0" err="1"/>
              <a:t>gRPC</a:t>
            </a:r>
            <a:r>
              <a:rPr lang="en-IN" sz="1400" dirty="0"/>
              <a:t> for communication between distributed client and server services</a:t>
            </a:r>
          </a:p>
          <a:p>
            <a:pPr marL="0" indent="0">
              <a:buNone/>
            </a:pPr>
            <a:r>
              <a:rPr lang="en-US" sz="1400" i="1" dirty="0"/>
              <a:t>Suppose my project is online shopping and build on Flask</a:t>
            </a:r>
            <a:r>
              <a:rPr lang="en-US" sz="1400" dirty="0"/>
              <a:t>. I will first open my Git Bash (It follows Linux). </a:t>
            </a:r>
            <a:br>
              <a:rPr lang="en-US" sz="1400" dirty="0"/>
            </a:br>
            <a:br>
              <a:rPr lang="en-US" sz="1400" dirty="0"/>
            </a:br>
            <a:r>
              <a:rPr lang="en-US" sz="1400" b="1" dirty="0"/>
              <a:t>Step 1:- </a:t>
            </a:r>
            <a:r>
              <a:rPr lang="en-US" sz="1400" dirty="0"/>
              <a:t>Go in your project folder. cd is the command to enter the folder. </a:t>
            </a:r>
          </a:p>
          <a:p>
            <a:pPr marL="0" indent="0">
              <a:buNone/>
            </a:pPr>
            <a:r>
              <a:rPr lang="en-US" sz="1400" dirty="0"/>
              <a:t>                Check your location by </a:t>
            </a:r>
            <a:r>
              <a:rPr lang="en-US" sz="1400" dirty="0" err="1"/>
              <a:t>pwd</a:t>
            </a:r>
            <a:r>
              <a:rPr lang="en-US" sz="1400" dirty="0"/>
              <a:t> command.</a:t>
            </a:r>
          </a:p>
          <a:p>
            <a:pPr marL="0" indent="0">
              <a:buNone/>
            </a:pPr>
            <a:r>
              <a:rPr lang="en-IN" sz="1400" b="1" dirty="0"/>
              <a:t>Step 2:- </a:t>
            </a:r>
            <a:r>
              <a:rPr lang="en-IN" sz="1400" dirty="0"/>
              <a:t>Check python version</a:t>
            </a:r>
          </a:p>
          <a:p>
            <a:pPr marL="0" indent="0">
              <a:buNone/>
            </a:pPr>
            <a:r>
              <a:rPr lang="en-IN" sz="1400" b="1" dirty="0"/>
              <a:t>Step 3:- </a:t>
            </a:r>
            <a:r>
              <a:rPr lang="en-IN" sz="1400" dirty="0"/>
              <a:t>Create a virtual environment </a:t>
            </a:r>
          </a:p>
          <a:p>
            <a:pPr marL="0" indent="0">
              <a:buNone/>
            </a:pPr>
            <a:endParaRPr lang="en-IN" sz="1400" dirty="0"/>
          </a:p>
          <a:p>
            <a:pPr marL="0" indent="0">
              <a:buNone/>
            </a:pPr>
            <a:r>
              <a:rPr lang="en-IN" sz="1400" b="1" dirty="0"/>
              <a:t>Step 4:- </a:t>
            </a:r>
            <a:r>
              <a:rPr lang="en-IN" sz="1400" dirty="0"/>
              <a:t>Activate the virtual environment. (</a:t>
            </a:r>
            <a:r>
              <a:rPr lang="en-IN" sz="1400" dirty="0" err="1"/>
              <a:t>venv</a:t>
            </a:r>
            <a:r>
              <a:rPr lang="en-IN" sz="1400" dirty="0"/>
              <a:t> shows its active)</a:t>
            </a:r>
            <a:br>
              <a:rPr lang="en-IN" sz="1400" dirty="0"/>
            </a:br>
            <a:br>
              <a:rPr lang="en-IN" sz="1400" dirty="0"/>
            </a:br>
            <a:endParaRPr lang="en-IN" sz="1400" dirty="0"/>
          </a:p>
          <a:p>
            <a:pPr marL="0" indent="0">
              <a:buNone/>
            </a:pPr>
            <a:r>
              <a:rPr lang="en-IN" sz="1400" b="1" dirty="0"/>
              <a:t>Step 5:- </a:t>
            </a:r>
            <a:r>
              <a:rPr lang="en-IN" sz="1400" dirty="0"/>
              <a:t>Install required packages </a:t>
            </a:r>
            <a:br>
              <a:rPr lang="en-IN" sz="1400" dirty="0"/>
            </a:br>
            <a:r>
              <a:rPr lang="en-IN" sz="1400" dirty="0"/>
              <a:t>                 pip install </a:t>
            </a:r>
            <a:r>
              <a:rPr lang="en-IN" sz="1400" dirty="0" err="1"/>
              <a:t>grpcio</a:t>
            </a:r>
            <a:r>
              <a:rPr lang="en-IN" sz="1400" dirty="0"/>
              <a:t> </a:t>
            </a:r>
            <a:r>
              <a:rPr lang="en-IN" sz="1400" dirty="0" err="1"/>
              <a:t>grpcio</a:t>
            </a:r>
            <a:r>
              <a:rPr lang="en-IN" sz="1400" dirty="0"/>
              <a:t>-tools</a:t>
            </a:r>
            <a:br>
              <a:rPr lang="en-IN" sz="1400" dirty="0"/>
            </a:br>
            <a:br>
              <a:rPr lang="en-IN" sz="1400" dirty="0"/>
            </a:br>
            <a:r>
              <a:rPr lang="en-IN" sz="1400" b="1" dirty="0"/>
              <a:t>Step 6:- </a:t>
            </a:r>
            <a:r>
              <a:rPr lang="en-IN" sz="1400" dirty="0"/>
              <a:t>Check pip install and install new version if needed.</a:t>
            </a:r>
            <a:endParaRPr lang="en-US" sz="1400" dirty="0"/>
          </a:p>
        </p:txBody>
      </p:sp>
      <p:pic>
        <p:nvPicPr>
          <p:cNvPr id="7" name="Picture 6">
            <a:extLst>
              <a:ext uri="{FF2B5EF4-FFF2-40B4-BE49-F238E27FC236}">
                <a16:creationId xmlns:a16="http://schemas.microsoft.com/office/drawing/2014/main" id="{AF92C14E-D65C-D0F3-993B-42F115FBF585}"/>
              </a:ext>
            </a:extLst>
          </p:cNvPr>
          <p:cNvPicPr>
            <a:picLocks noChangeAspect="1"/>
          </p:cNvPicPr>
          <p:nvPr/>
        </p:nvPicPr>
        <p:blipFill>
          <a:blip r:embed="rId2"/>
          <a:stretch>
            <a:fillRect/>
          </a:stretch>
        </p:blipFill>
        <p:spPr>
          <a:xfrm>
            <a:off x="3615560" y="3300502"/>
            <a:ext cx="3405229" cy="357070"/>
          </a:xfrm>
          <a:prstGeom prst="rect">
            <a:avLst/>
          </a:prstGeom>
        </p:spPr>
      </p:pic>
      <p:pic>
        <p:nvPicPr>
          <p:cNvPr id="11" name="Picture 10">
            <a:extLst>
              <a:ext uri="{FF2B5EF4-FFF2-40B4-BE49-F238E27FC236}">
                <a16:creationId xmlns:a16="http://schemas.microsoft.com/office/drawing/2014/main" id="{0D583AFB-9A49-98A6-5B25-0340D5A3D18E}"/>
              </a:ext>
            </a:extLst>
          </p:cNvPr>
          <p:cNvPicPr>
            <a:picLocks noChangeAspect="1"/>
          </p:cNvPicPr>
          <p:nvPr/>
        </p:nvPicPr>
        <p:blipFill>
          <a:blip r:embed="rId3"/>
          <a:stretch>
            <a:fillRect/>
          </a:stretch>
        </p:blipFill>
        <p:spPr>
          <a:xfrm>
            <a:off x="5777735" y="4036289"/>
            <a:ext cx="2979678" cy="457240"/>
          </a:xfrm>
          <a:prstGeom prst="rect">
            <a:avLst/>
          </a:prstGeom>
        </p:spPr>
      </p:pic>
      <p:pic>
        <p:nvPicPr>
          <p:cNvPr id="15" name="Picture 14">
            <a:extLst>
              <a:ext uri="{FF2B5EF4-FFF2-40B4-BE49-F238E27FC236}">
                <a16:creationId xmlns:a16="http://schemas.microsoft.com/office/drawing/2014/main" id="{4766AC6D-220E-034B-5B4C-18D24A457F25}"/>
              </a:ext>
            </a:extLst>
          </p:cNvPr>
          <p:cNvPicPr>
            <a:picLocks noChangeAspect="1"/>
          </p:cNvPicPr>
          <p:nvPr/>
        </p:nvPicPr>
        <p:blipFill>
          <a:blip r:embed="rId4"/>
          <a:stretch>
            <a:fillRect/>
          </a:stretch>
        </p:blipFill>
        <p:spPr>
          <a:xfrm>
            <a:off x="6459753" y="2257634"/>
            <a:ext cx="2610002" cy="357069"/>
          </a:xfrm>
          <a:prstGeom prst="rect">
            <a:avLst/>
          </a:prstGeom>
        </p:spPr>
      </p:pic>
    </p:spTree>
    <p:extLst>
      <p:ext uri="{BB962C8B-B14F-4D97-AF65-F5344CB8AC3E}">
        <p14:creationId xmlns:p14="http://schemas.microsoft.com/office/powerpoint/2010/main" val="1347986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8FC980-1F36-7002-9C0E-526C1E7AD06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49470B-E17A-7EAC-2444-EEFCABDAD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7BBF0137-9838-3877-8BE4-88E55F4D2E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6EB8999E-68FD-EA04-1535-314193E5B2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88449EF-D393-5202-104C-A5D70F366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F1375DE-1170-4D66-E076-02C6504289A1}"/>
              </a:ext>
            </a:extLst>
          </p:cNvPr>
          <p:cNvSpPr>
            <a:spLocks noGrp="1"/>
          </p:cNvSpPr>
          <p:nvPr>
            <p:ph idx="1"/>
          </p:nvPr>
        </p:nvSpPr>
        <p:spPr>
          <a:xfrm>
            <a:off x="442452" y="323850"/>
            <a:ext cx="10911348" cy="6238875"/>
          </a:xfrm>
        </p:spPr>
        <p:txBody>
          <a:bodyPr>
            <a:normAutofit/>
          </a:bodyPr>
          <a:lstStyle/>
          <a:p>
            <a:pPr marL="0" indent="0">
              <a:buNone/>
            </a:pPr>
            <a:r>
              <a:rPr lang="en-US" sz="1400" b="1" dirty="0"/>
              <a:t>Step 7:- </a:t>
            </a:r>
            <a:r>
              <a:rPr lang="en-US" sz="1400" dirty="0"/>
              <a:t>Verify pip install.</a:t>
            </a:r>
          </a:p>
          <a:p>
            <a:pPr marL="0" indent="0">
              <a:buNone/>
            </a:pPr>
            <a:endParaRPr lang="en-US" sz="1400" dirty="0"/>
          </a:p>
          <a:p>
            <a:pPr marL="0" indent="0">
              <a:buNone/>
            </a:pPr>
            <a:endParaRPr lang="en-US" sz="1400" dirty="0"/>
          </a:p>
          <a:p>
            <a:pPr marL="0" indent="0">
              <a:buNone/>
            </a:pPr>
            <a:endParaRPr lang="en-US" sz="1400" dirty="0"/>
          </a:p>
          <a:p>
            <a:pPr marL="0" indent="0">
              <a:buNone/>
            </a:pPr>
            <a:br>
              <a:rPr lang="en-US" sz="1400" dirty="0"/>
            </a:br>
            <a:endParaRPr lang="en-US" sz="1400" dirty="0"/>
          </a:p>
          <a:p>
            <a:pPr marL="0" indent="0">
              <a:buNone/>
            </a:pPr>
            <a:r>
              <a:rPr lang="en-US" sz="1400" b="1" dirty="0"/>
              <a:t>Step 8:- </a:t>
            </a:r>
            <a:r>
              <a:rPr lang="en-US" sz="1400" dirty="0"/>
              <a:t>Create file structure with the necessary </a:t>
            </a:r>
            <a:r>
              <a:rPr lang="en-US" sz="1400" dirty="0" err="1"/>
              <a:t>grpc</a:t>
            </a:r>
            <a:r>
              <a:rPr lang="en-US" sz="1400" dirty="0"/>
              <a:t> files.</a:t>
            </a:r>
            <a:br>
              <a:rPr lang="en-US" sz="1400" dirty="0"/>
            </a:br>
            <a:br>
              <a:rPr lang="en-US" sz="1400" dirty="0"/>
            </a:br>
            <a:endParaRPr lang="en-US" sz="1400" dirty="0"/>
          </a:p>
          <a:p>
            <a:pPr marL="0" indent="0">
              <a:buNone/>
            </a:pPr>
            <a:endParaRPr lang="en-US" sz="1400" dirty="0"/>
          </a:p>
          <a:p>
            <a:pPr marL="0" indent="0">
              <a:buNone/>
            </a:pPr>
            <a:endParaRPr lang="en-US" sz="1400" dirty="0"/>
          </a:p>
          <a:p>
            <a:pPr marL="0" indent="0">
              <a:buNone/>
            </a:pPr>
            <a:br>
              <a:rPr lang="en-US" sz="1400" dirty="0"/>
            </a:br>
            <a:r>
              <a:rPr lang="en-US" sz="1400" b="1" dirty="0"/>
              <a:t>Step 9:- </a:t>
            </a:r>
            <a:r>
              <a:rPr lang="en-US" sz="1400" dirty="0"/>
              <a:t>Create </a:t>
            </a:r>
            <a:r>
              <a:rPr lang="en-US" sz="1400" i="1" dirty="0"/>
              <a:t>.proto </a:t>
            </a:r>
            <a:r>
              <a:rPr lang="en-US" sz="1400" dirty="0"/>
              <a:t>file. Tell AI to give you a proto file based on your application. Add code for server.py and client.py. Also make sure that you are updating </a:t>
            </a:r>
            <a:r>
              <a:rPr lang="en-US" sz="1400" i="1" dirty="0"/>
              <a:t>requirements.txt </a:t>
            </a:r>
            <a:r>
              <a:rPr lang="en-US" sz="1400" dirty="0"/>
              <a:t>file. This is how my repo looks like- </a:t>
            </a:r>
          </a:p>
          <a:p>
            <a:pPr marL="0" indent="0">
              <a:buNone/>
            </a:pPr>
            <a:r>
              <a:rPr lang="en-US" sz="1400" dirty="0"/>
              <a:t>                                                                  I just created client_order.py and inventory_server.py. Added my code. </a:t>
            </a:r>
          </a:p>
          <a:p>
            <a:pPr marL="0" indent="0">
              <a:buNone/>
            </a:pPr>
            <a:r>
              <a:rPr lang="en-US" sz="1400" dirty="0"/>
              <a:t>                                                                  </a:t>
            </a:r>
            <a:r>
              <a:rPr lang="en-US" sz="1400" b="1" dirty="0"/>
              <a:t>Make sure you are adding these 2 files are per your mini project application.</a:t>
            </a:r>
            <a:br>
              <a:rPr lang="en-US" sz="1400" dirty="0"/>
            </a:br>
            <a:endParaRPr lang="en-US" sz="1400" dirty="0"/>
          </a:p>
          <a:p>
            <a:pPr marL="0" indent="0">
              <a:buNone/>
            </a:pPr>
            <a:endParaRPr lang="en-US" sz="1400" dirty="0"/>
          </a:p>
          <a:p>
            <a:pPr marL="0" indent="0">
              <a:buNone/>
            </a:pPr>
            <a:endParaRPr lang="en-US" sz="1400" dirty="0"/>
          </a:p>
        </p:txBody>
      </p:sp>
      <p:pic>
        <p:nvPicPr>
          <p:cNvPr id="13" name="Picture 12">
            <a:extLst>
              <a:ext uri="{FF2B5EF4-FFF2-40B4-BE49-F238E27FC236}">
                <a16:creationId xmlns:a16="http://schemas.microsoft.com/office/drawing/2014/main" id="{A7D1C85A-FC21-9D10-2805-F6A366248EED}"/>
              </a:ext>
            </a:extLst>
          </p:cNvPr>
          <p:cNvPicPr>
            <a:picLocks noChangeAspect="1"/>
          </p:cNvPicPr>
          <p:nvPr/>
        </p:nvPicPr>
        <p:blipFill>
          <a:blip r:embed="rId2"/>
          <a:stretch>
            <a:fillRect/>
          </a:stretch>
        </p:blipFill>
        <p:spPr>
          <a:xfrm>
            <a:off x="1287637" y="622175"/>
            <a:ext cx="3292125" cy="1425063"/>
          </a:xfrm>
          <a:prstGeom prst="rect">
            <a:avLst/>
          </a:prstGeom>
        </p:spPr>
      </p:pic>
      <p:pic>
        <p:nvPicPr>
          <p:cNvPr id="16" name="Picture 15">
            <a:extLst>
              <a:ext uri="{FF2B5EF4-FFF2-40B4-BE49-F238E27FC236}">
                <a16:creationId xmlns:a16="http://schemas.microsoft.com/office/drawing/2014/main" id="{B045200F-DF77-F2CE-A4B2-68789350D827}"/>
              </a:ext>
            </a:extLst>
          </p:cNvPr>
          <p:cNvPicPr>
            <a:picLocks noChangeAspect="1"/>
          </p:cNvPicPr>
          <p:nvPr/>
        </p:nvPicPr>
        <p:blipFill>
          <a:blip r:embed="rId3"/>
          <a:stretch>
            <a:fillRect/>
          </a:stretch>
        </p:blipFill>
        <p:spPr>
          <a:xfrm>
            <a:off x="5343841" y="2392702"/>
            <a:ext cx="1501270" cy="1562235"/>
          </a:xfrm>
          <a:prstGeom prst="rect">
            <a:avLst/>
          </a:prstGeom>
        </p:spPr>
      </p:pic>
      <p:pic>
        <p:nvPicPr>
          <p:cNvPr id="18" name="Picture 17">
            <a:extLst>
              <a:ext uri="{FF2B5EF4-FFF2-40B4-BE49-F238E27FC236}">
                <a16:creationId xmlns:a16="http://schemas.microsoft.com/office/drawing/2014/main" id="{D55B7BE3-8746-210C-3E5D-D6C4685BC914}"/>
              </a:ext>
            </a:extLst>
          </p:cNvPr>
          <p:cNvPicPr>
            <a:picLocks noChangeAspect="1"/>
          </p:cNvPicPr>
          <p:nvPr/>
        </p:nvPicPr>
        <p:blipFill>
          <a:blip r:embed="rId4"/>
          <a:stretch>
            <a:fillRect/>
          </a:stretch>
        </p:blipFill>
        <p:spPr>
          <a:xfrm>
            <a:off x="548508" y="4661015"/>
            <a:ext cx="2701207" cy="1899602"/>
          </a:xfrm>
          <a:prstGeom prst="rect">
            <a:avLst/>
          </a:prstGeom>
        </p:spPr>
      </p:pic>
    </p:spTree>
    <p:extLst>
      <p:ext uri="{BB962C8B-B14F-4D97-AF65-F5344CB8AC3E}">
        <p14:creationId xmlns:p14="http://schemas.microsoft.com/office/powerpoint/2010/main" val="1381698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4AA4A2-72F7-EC0D-44A8-943901E7895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8D777BB-F335-6AFC-CEC5-24A8DCCFC5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B90C55B2-137B-DA58-C765-A165FCC95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9E317D6B-10D4-3795-8018-013D4E7106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D4DC099F-FAE3-867D-D621-3089DE5E8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8BCD461-8D4E-135B-AA90-7CFA4E57AD98}"/>
              </a:ext>
            </a:extLst>
          </p:cNvPr>
          <p:cNvSpPr>
            <a:spLocks noGrp="1"/>
          </p:cNvSpPr>
          <p:nvPr>
            <p:ph idx="1"/>
          </p:nvPr>
        </p:nvSpPr>
        <p:spPr>
          <a:xfrm>
            <a:off x="442452" y="323850"/>
            <a:ext cx="10911348" cy="6238875"/>
          </a:xfrm>
        </p:spPr>
        <p:txBody>
          <a:bodyPr>
            <a:normAutofit/>
          </a:bodyPr>
          <a:lstStyle/>
          <a:p>
            <a:pPr marL="0" indent="0">
              <a:buNone/>
            </a:pPr>
            <a:r>
              <a:rPr lang="en-US" sz="1400" dirty="0"/>
              <a:t>This is my requirements.txt for my Flask application.</a:t>
            </a:r>
            <a:br>
              <a:rPr lang="en-US" sz="1400" dirty="0"/>
            </a:br>
            <a:endParaRPr lang="en-US" sz="1400" dirty="0"/>
          </a:p>
          <a:p>
            <a:pPr marL="0" indent="0">
              <a:buNone/>
            </a:pPr>
            <a:endParaRPr lang="en-US" sz="1400" b="1" dirty="0"/>
          </a:p>
          <a:p>
            <a:pPr marL="0" indent="0">
              <a:buNone/>
            </a:pPr>
            <a:endParaRPr lang="en-US" sz="1400" b="1" dirty="0"/>
          </a:p>
          <a:p>
            <a:pPr marL="0" indent="0">
              <a:buNone/>
            </a:pPr>
            <a:endParaRPr lang="en-US" sz="1400" b="1" dirty="0"/>
          </a:p>
          <a:p>
            <a:pPr marL="0" indent="0">
              <a:buNone/>
            </a:pPr>
            <a:r>
              <a:rPr lang="en-US" sz="1400" b="1" dirty="0"/>
              <a:t>Step 10:- </a:t>
            </a:r>
            <a:r>
              <a:rPr lang="en-US" sz="1400" dirty="0"/>
              <a:t>Generate python files. </a:t>
            </a:r>
            <a:r>
              <a:rPr lang="en-IN" sz="1400" dirty="0"/>
              <a:t>python -m </a:t>
            </a:r>
            <a:r>
              <a:rPr lang="en-IN" sz="1400" dirty="0" err="1"/>
              <a:t>grpc_tools.protoc</a:t>
            </a:r>
            <a:r>
              <a:rPr lang="en-IN" sz="1400" dirty="0"/>
              <a:t> -I=proto --</a:t>
            </a:r>
            <a:r>
              <a:rPr lang="en-IN" sz="1400" dirty="0" err="1"/>
              <a:t>python_out</a:t>
            </a:r>
            <a:r>
              <a:rPr lang="en-IN" sz="1400" dirty="0"/>
              <a:t>=. --</a:t>
            </a:r>
            <a:r>
              <a:rPr lang="en-IN" sz="1400" dirty="0" err="1"/>
              <a:t>grpc_python_out</a:t>
            </a:r>
            <a:r>
              <a:rPr lang="en-IN" sz="1400" dirty="0"/>
              <a:t>=. proto/</a:t>
            </a:r>
            <a:r>
              <a:rPr lang="en-IN" sz="1400" dirty="0" err="1"/>
              <a:t>inventory.proto</a:t>
            </a:r>
            <a:br>
              <a:rPr lang="en-IN" sz="1400" dirty="0"/>
            </a:br>
            <a:r>
              <a:rPr lang="en-IN" sz="1400" dirty="0"/>
              <a:t>                   This generates </a:t>
            </a:r>
            <a:br>
              <a:rPr lang="en-IN" sz="1400" dirty="0"/>
            </a:br>
            <a:endParaRPr lang="en-IN" sz="1400" b="1" dirty="0"/>
          </a:p>
          <a:p>
            <a:pPr marL="0" indent="0">
              <a:buNone/>
            </a:pPr>
            <a:endParaRPr lang="en-US" sz="1400" dirty="0"/>
          </a:p>
          <a:p>
            <a:pPr marL="0" indent="0">
              <a:buNone/>
            </a:pPr>
            <a:endParaRPr lang="en-US" sz="1400" dirty="0"/>
          </a:p>
          <a:p>
            <a:pPr marL="0" indent="0">
              <a:buNone/>
            </a:pPr>
            <a:r>
              <a:rPr lang="en-US" sz="1400" b="1" dirty="0"/>
              <a:t>Step 11:- </a:t>
            </a:r>
            <a:r>
              <a:rPr lang="en-US" sz="1400" dirty="0"/>
              <a:t>Now run the server.</a:t>
            </a:r>
            <a:br>
              <a:rPr lang="en-US" sz="1400" dirty="0"/>
            </a:br>
            <a:r>
              <a:rPr lang="en-US" sz="1400" dirty="0"/>
              <a:t>                  python inventory_server.py</a:t>
            </a:r>
            <a:br>
              <a:rPr lang="en-US" sz="1400" dirty="0"/>
            </a:br>
            <a:r>
              <a:rPr lang="en-US" sz="1400" dirty="0"/>
              <a:t>Output: </a:t>
            </a:r>
          </a:p>
          <a:p>
            <a:pPr marL="0" indent="0">
              <a:buNone/>
            </a:pPr>
            <a:endParaRPr lang="en-US" sz="1400" dirty="0"/>
          </a:p>
          <a:p>
            <a:pPr marL="0" indent="0">
              <a:buNone/>
            </a:pPr>
            <a:endParaRPr lang="en-US" sz="1400" dirty="0"/>
          </a:p>
          <a:p>
            <a:pPr marL="0" indent="0">
              <a:buNone/>
            </a:pPr>
            <a:r>
              <a:rPr lang="en-US" sz="1400" b="1" dirty="0"/>
              <a:t>Step 12:- </a:t>
            </a:r>
            <a:r>
              <a:rPr lang="en-US" sz="1400" dirty="0"/>
              <a:t>Open new Git Bash window </a:t>
            </a:r>
            <a:r>
              <a:rPr lang="en-US" sz="1400" b="1" dirty="0"/>
              <a:t>(Do not close the server running bash window). </a:t>
            </a:r>
            <a:r>
              <a:rPr lang="en-US" sz="1400" dirty="0"/>
              <a:t>Go in your project window and just activate the virtual environment. </a:t>
            </a:r>
          </a:p>
          <a:p>
            <a:pPr marL="0" indent="0">
              <a:buNone/>
            </a:pPr>
            <a:endParaRPr lang="en-US" sz="1400" dirty="0"/>
          </a:p>
        </p:txBody>
      </p:sp>
      <p:pic>
        <p:nvPicPr>
          <p:cNvPr id="4" name="Picture 3">
            <a:extLst>
              <a:ext uri="{FF2B5EF4-FFF2-40B4-BE49-F238E27FC236}">
                <a16:creationId xmlns:a16="http://schemas.microsoft.com/office/drawing/2014/main" id="{DF1780D9-CAB6-61ED-A1F1-6EF7798773F5}"/>
              </a:ext>
            </a:extLst>
          </p:cNvPr>
          <p:cNvPicPr>
            <a:picLocks noChangeAspect="1"/>
          </p:cNvPicPr>
          <p:nvPr/>
        </p:nvPicPr>
        <p:blipFill>
          <a:blip r:embed="rId2"/>
          <a:stretch>
            <a:fillRect/>
          </a:stretch>
        </p:blipFill>
        <p:spPr>
          <a:xfrm>
            <a:off x="570468" y="622512"/>
            <a:ext cx="2408129" cy="1272650"/>
          </a:xfrm>
          <a:prstGeom prst="rect">
            <a:avLst/>
          </a:prstGeom>
        </p:spPr>
      </p:pic>
      <p:pic>
        <p:nvPicPr>
          <p:cNvPr id="6" name="Picture 5">
            <a:extLst>
              <a:ext uri="{FF2B5EF4-FFF2-40B4-BE49-F238E27FC236}">
                <a16:creationId xmlns:a16="http://schemas.microsoft.com/office/drawing/2014/main" id="{8F08FE2A-AA1A-DD9F-5283-809891E570A3}"/>
              </a:ext>
            </a:extLst>
          </p:cNvPr>
          <p:cNvPicPr>
            <a:picLocks noChangeAspect="1"/>
          </p:cNvPicPr>
          <p:nvPr/>
        </p:nvPicPr>
        <p:blipFill>
          <a:blip r:embed="rId3"/>
          <a:stretch>
            <a:fillRect/>
          </a:stretch>
        </p:blipFill>
        <p:spPr>
          <a:xfrm>
            <a:off x="1294431" y="2577443"/>
            <a:ext cx="1684166" cy="502964"/>
          </a:xfrm>
          <a:prstGeom prst="rect">
            <a:avLst/>
          </a:prstGeom>
        </p:spPr>
      </p:pic>
      <p:pic>
        <p:nvPicPr>
          <p:cNvPr id="9" name="Picture 8">
            <a:extLst>
              <a:ext uri="{FF2B5EF4-FFF2-40B4-BE49-F238E27FC236}">
                <a16:creationId xmlns:a16="http://schemas.microsoft.com/office/drawing/2014/main" id="{EF006212-0AFF-55BE-C37A-C2E99A75EDBD}"/>
              </a:ext>
            </a:extLst>
          </p:cNvPr>
          <p:cNvPicPr>
            <a:picLocks noChangeAspect="1"/>
          </p:cNvPicPr>
          <p:nvPr/>
        </p:nvPicPr>
        <p:blipFill>
          <a:blip r:embed="rId4"/>
          <a:stretch>
            <a:fillRect/>
          </a:stretch>
        </p:blipFill>
        <p:spPr>
          <a:xfrm>
            <a:off x="1176444" y="4279033"/>
            <a:ext cx="3063505" cy="434378"/>
          </a:xfrm>
          <a:prstGeom prst="rect">
            <a:avLst/>
          </a:prstGeom>
        </p:spPr>
      </p:pic>
      <p:pic>
        <p:nvPicPr>
          <p:cNvPr id="5" name="Picture 4">
            <a:extLst>
              <a:ext uri="{FF2B5EF4-FFF2-40B4-BE49-F238E27FC236}">
                <a16:creationId xmlns:a16="http://schemas.microsoft.com/office/drawing/2014/main" id="{E3F8DCC3-AC32-9E47-7F1B-6D33058BFB3B}"/>
              </a:ext>
            </a:extLst>
          </p:cNvPr>
          <p:cNvPicPr>
            <a:picLocks noChangeAspect="1"/>
          </p:cNvPicPr>
          <p:nvPr/>
        </p:nvPicPr>
        <p:blipFill>
          <a:blip r:embed="rId5"/>
          <a:stretch>
            <a:fillRect/>
          </a:stretch>
        </p:blipFill>
        <p:spPr>
          <a:xfrm>
            <a:off x="3257155" y="5457782"/>
            <a:ext cx="2837321" cy="434378"/>
          </a:xfrm>
          <a:prstGeom prst="rect">
            <a:avLst/>
          </a:prstGeom>
        </p:spPr>
      </p:pic>
      <p:pic>
        <p:nvPicPr>
          <p:cNvPr id="11" name="Picture 10">
            <a:extLst>
              <a:ext uri="{FF2B5EF4-FFF2-40B4-BE49-F238E27FC236}">
                <a16:creationId xmlns:a16="http://schemas.microsoft.com/office/drawing/2014/main" id="{06294D3A-30D0-5351-CA02-D9CDDF49E544}"/>
              </a:ext>
            </a:extLst>
          </p:cNvPr>
          <p:cNvPicPr>
            <a:picLocks noChangeAspect="1"/>
          </p:cNvPicPr>
          <p:nvPr/>
        </p:nvPicPr>
        <p:blipFill>
          <a:blip r:embed="rId6"/>
          <a:stretch>
            <a:fillRect/>
          </a:stretch>
        </p:blipFill>
        <p:spPr>
          <a:xfrm>
            <a:off x="6318010" y="5485282"/>
            <a:ext cx="2972058" cy="457240"/>
          </a:xfrm>
          <a:prstGeom prst="rect">
            <a:avLst/>
          </a:prstGeom>
        </p:spPr>
      </p:pic>
    </p:spTree>
    <p:extLst>
      <p:ext uri="{BB962C8B-B14F-4D97-AF65-F5344CB8AC3E}">
        <p14:creationId xmlns:p14="http://schemas.microsoft.com/office/powerpoint/2010/main" val="774447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C57960-0775-2A7F-C533-441B2B94A5F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7D859BB-9A1D-2ED5-32F9-67A9DC4FC7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B8775AF-23D6-546A-5D33-3F9B3F520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05AC65A-01FC-3D86-0245-66307067CF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F195A19-0319-7825-D8CF-E198FEEA35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0408CE5-56EB-605E-BEFB-1F22F84AB270}"/>
              </a:ext>
            </a:extLst>
          </p:cNvPr>
          <p:cNvSpPr>
            <a:spLocks noGrp="1"/>
          </p:cNvSpPr>
          <p:nvPr>
            <p:ph idx="1"/>
          </p:nvPr>
        </p:nvSpPr>
        <p:spPr>
          <a:xfrm>
            <a:off x="442452" y="323850"/>
            <a:ext cx="10911348" cy="6238875"/>
          </a:xfrm>
        </p:spPr>
        <p:txBody>
          <a:bodyPr>
            <a:normAutofit/>
          </a:bodyPr>
          <a:lstStyle/>
          <a:p>
            <a:pPr marL="0" indent="0">
              <a:buNone/>
            </a:pPr>
            <a:br>
              <a:rPr lang="en-US" sz="1400" dirty="0"/>
            </a:br>
            <a:r>
              <a:rPr lang="en-US" sz="1400" b="1" dirty="0"/>
              <a:t>Step 13:- </a:t>
            </a:r>
            <a:r>
              <a:rPr lang="en-US" sz="1400" dirty="0"/>
              <a:t>Run the other service to make sure your connection is set up. </a:t>
            </a:r>
            <a:br>
              <a:rPr lang="en-IN" sz="1400" dirty="0"/>
            </a:br>
            <a:endParaRPr lang="en-IN" sz="1400" b="1"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r>
              <a:rPr lang="en-US" sz="1400" dirty="0"/>
              <a:t>See the previous file. Those content are now running on my client server. Meaning – for my flask app, the content on Inventory_server.py are now transferred to my </a:t>
            </a:r>
            <a:r>
              <a:rPr lang="en-US" sz="1400" dirty="0" err="1"/>
              <a:t>client_order</a:t>
            </a:r>
            <a:r>
              <a:rPr lang="en-US" sz="1400" dirty="0"/>
              <a:t> server.   </a:t>
            </a:r>
          </a:p>
          <a:p>
            <a:pPr marL="0" indent="0">
              <a:buNone/>
            </a:pPr>
            <a:endParaRPr lang="en-US" sz="1400" dirty="0"/>
          </a:p>
          <a:p>
            <a:pPr marL="0" indent="0" algn="just">
              <a:buNone/>
            </a:pPr>
            <a:r>
              <a:rPr lang="en-US" sz="1400" b="1" dirty="0"/>
              <a:t>Conclusion </a:t>
            </a:r>
            <a:r>
              <a:rPr lang="en-US" sz="1400" dirty="0"/>
              <a:t>(for my </a:t>
            </a:r>
            <a:r>
              <a:rPr lang="en-US" sz="1400" dirty="0" err="1"/>
              <a:t>flask_app</a:t>
            </a:r>
            <a:r>
              <a:rPr lang="en-US" sz="1400" dirty="0"/>
              <a:t>)</a:t>
            </a:r>
            <a:r>
              <a:rPr lang="en-US" sz="1400" b="1" dirty="0"/>
              <a:t>: </a:t>
            </a:r>
          </a:p>
          <a:p>
            <a:pPr marL="0" indent="0" algn="just">
              <a:buNone/>
            </a:pPr>
            <a:r>
              <a:rPr lang="en-US" sz="1400" dirty="0"/>
              <a:t>T</a:t>
            </a:r>
            <a:r>
              <a:rPr lang="en-IN" sz="1400" dirty="0"/>
              <a:t>he successful execution of the program confirmed that the Order Service was able to communicate with the Inventory Service using </a:t>
            </a:r>
            <a:r>
              <a:rPr lang="en-IN" sz="1400" dirty="0" err="1"/>
              <a:t>gRPC</a:t>
            </a:r>
            <a:r>
              <a:rPr lang="en-IN" sz="1400" dirty="0"/>
              <a:t>-based RPC calls. The client sent a request to check product availability, and the server processed the request and returned the inventory status. Since sufficient stock was available, the inventory was successfully reserved and updated. </a:t>
            </a:r>
          </a:p>
          <a:p>
            <a:pPr marL="0" indent="0" algn="just">
              <a:buNone/>
            </a:pPr>
            <a:r>
              <a:rPr lang="en-IN" sz="1400" dirty="0"/>
              <a:t>The output verified that the RPC methods </a:t>
            </a:r>
            <a:r>
              <a:rPr lang="en-IN" sz="1400" dirty="0" err="1"/>
              <a:t>CheckStock</a:t>
            </a:r>
            <a:r>
              <a:rPr lang="en-IN" sz="1400" dirty="0"/>
              <a:t>(), </a:t>
            </a:r>
            <a:r>
              <a:rPr lang="en-IN" sz="1400" dirty="0" err="1"/>
              <a:t>ReserveStock</a:t>
            </a:r>
            <a:r>
              <a:rPr lang="en-IN" sz="1400" dirty="0"/>
              <a:t>(), and </a:t>
            </a:r>
            <a:r>
              <a:rPr lang="en-IN" sz="1400" dirty="0" err="1"/>
              <a:t>UpdateStock</a:t>
            </a:r>
            <a:r>
              <a:rPr lang="en-IN" sz="1400" dirty="0"/>
              <a:t>() were invoked correctly, demonstrating successful request-response communication between two distributed services.</a:t>
            </a:r>
            <a:endParaRPr lang="en-US" sz="1400" dirty="0"/>
          </a:p>
        </p:txBody>
      </p:sp>
      <p:pic>
        <p:nvPicPr>
          <p:cNvPr id="7" name="Picture 6">
            <a:extLst>
              <a:ext uri="{FF2B5EF4-FFF2-40B4-BE49-F238E27FC236}">
                <a16:creationId xmlns:a16="http://schemas.microsoft.com/office/drawing/2014/main" id="{150902B1-649D-98F1-1EA2-EC3D76534468}"/>
              </a:ext>
            </a:extLst>
          </p:cNvPr>
          <p:cNvPicPr>
            <a:picLocks noChangeAspect="1"/>
          </p:cNvPicPr>
          <p:nvPr/>
        </p:nvPicPr>
        <p:blipFill>
          <a:blip r:embed="rId2"/>
          <a:stretch>
            <a:fillRect/>
          </a:stretch>
        </p:blipFill>
        <p:spPr>
          <a:xfrm>
            <a:off x="1333351" y="945361"/>
            <a:ext cx="3429297" cy="1600339"/>
          </a:xfrm>
          <a:prstGeom prst="rect">
            <a:avLst/>
          </a:prstGeom>
        </p:spPr>
      </p:pic>
    </p:spTree>
    <p:extLst>
      <p:ext uri="{BB962C8B-B14F-4D97-AF65-F5344CB8AC3E}">
        <p14:creationId xmlns:p14="http://schemas.microsoft.com/office/powerpoint/2010/main" val="3482457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7EF750-4B3D-5507-FBDA-8128F62602A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9082A5-46A7-D5B6-E616-21D59836E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C5E1C716-6B5A-3350-02CB-D72484D6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pic>
        <p:nvPicPr>
          <p:cNvPr id="4" name="Picture 3">
            <a:extLst>
              <a:ext uri="{FF2B5EF4-FFF2-40B4-BE49-F238E27FC236}">
                <a16:creationId xmlns:a16="http://schemas.microsoft.com/office/drawing/2014/main" id="{42AC6216-D153-3F26-F7B6-A47F1E94F687}"/>
              </a:ext>
            </a:extLst>
          </p:cNvPr>
          <p:cNvPicPr>
            <a:picLocks noChangeAspect="1"/>
          </p:cNvPicPr>
          <p:nvPr/>
        </p:nvPicPr>
        <p:blipFill>
          <a:blip r:embed="rId2">
            <a:alphaModFix amt="60000"/>
          </a:blip>
          <a:srcRect t="1747"/>
          <a:stretch>
            <a:fillRect/>
          </a:stretch>
        </p:blipFill>
        <p:spPr>
          <a:xfrm>
            <a:off x="20" y="10"/>
            <a:ext cx="12191979" cy="6857989"/>
          </a:xfrm>
          <a:prstGeom prst="rect">
            <a:avLst/>
          </a:prstGeom>
        </p:spPr>
      </p:pic>
      <p:sp>
        <p:nvSpPr>
          <p:cNvPr id="13" name="Rectangle 12">
            <a:extLst>
              <a:ext uri="{FF2B5EF4-FFF2-40B4-BE49-F238E27FC236}">
                <a16:creationId xmlns:a16="http://schemas.microsoft.com/office/drawing/2014/main" id="{AC5DE39C-A1F4-9218-6A04-DEEFC3D11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solidFill>
            <a:schemeClr val="bg1">
              <a:alpha val="95000"/>
            </a:schemeClr>
          </a:solidFill>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A43772A-7824-8044-F8D2-DDF2C401904B}"/>
              </a:ext>
            </a:extLst>
          </p:cNvPr>
          <p:cNvSpPr>
            <a:spLocks noGrp="1"/>
          </p:cNvSpPr>
          <p:nvPr>
            <p:ph type="ctrTitle"/>
          </p:nvPr>
        </p:nvSpPr>
        <p:spPr>
          <a:xfrm>
            <a:off x="1804988" y="1442172"/>
            <a:ext cx="8582025" cy="2177328"/>
          </a:xfrm>
        </p:spPr>
        <p:txBody>
          <a:bodyPr anchor="ctr">
            <a:normAutofit/>
          </a:bodyPr>
          <a:lstStyle/>
          <a:p>
            <a:pPr algn="ctr"/>
            <a:r>
              <a:rPr lang="en-US" sz="7200" dirty="0"/>
              <a:t>Experiment 3</a:t>
            </a:r>
            <a:endParaRPr lang="en-IN" sz="7200" dirty="0"/>
          </a:p>
        </p:txBody>
      </p:sp>
      <p:sp>
        <p:nvSpPr>
          <p:cNvPr id="15" name="Rectangle: Rounded Corners 14">
            <a:extLst>
              <a:ext uri="{FF2B5EF4-FFF2-40B4-BE49-F238E27FC236}">
                <a16:creationId xmlns:a16="http://schemas.microsoft.com/office/drawing/2014/main" id="{9CBD3C6A-8B9C-CF52-6C38-A24CE3296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3" name="Subtitle 2">
            <a:extLst>
              <a:ext uri="{FF2B5EF4-FFF2-40B4-BE49-F238E27FC236}">
                <a16:creationId xmlns:a16="http://schemas.microsoft.com/office/drawing/2014/main" id="{D49D69FF-2A24-D458-07ED-1417C04A5198}"/>
              </a:ext>
            </a:extLst>
          </p:cNvPr>
          <p:cNvSpPr>
            <a:spLocks noGrp="1"/>
          </p:cNvSpPr>
          <p:nvPr>
            <p:ph type="subTitle" idx="1"/>
          </p:nvPr>
        </p:nvSpPr>
        <p:spPr>
          <a:xfrm>
            <a:off x="2566988" y="3962400"/>
            <a:ext cx="7058025" cy="581025"/>
          </a:xfrm>
        </p:spPr>
        <p:txBody>
          <a:bodyPr anchor="ctr">
            <a:normAutofit/>
          </a:bodyPr>
          <a:lstStyle/>
          <a:p>
            <a:pPr algn="ctr"/>
            <a:r>
              <a:rPr lang="en-US" dirty="0">
                <a:solidFill>
                  <a:srgbClr val="FFFFFF"/>
                </a:solidFill>
              </a:rPr>
              <a:t>Distributed Computing</a:t>
            </a:r>
            <a:endParaRPr lang="en-IN" dirty="0">
              <a:solidFill>
                <a:srgbClr val="FFFFFF"/>
              </a:solidFill>
            </a:endParaRPr>
          </a:p>
        </p:txBody>
      </p:sp>
      <p:sp>
        <p:nvSpPr>
          <p:cNvPr id="6" name="Rectangle: Rounded Corners 5">
            <a:extLst>
              <a:ext uri="{FF2B5EF4-FFF2-40B4-BE49-F238E27FC236}">
                <a16:creationId xmlns:a16="http://schemas.microsoft.com/office/drawing/2014/main" id="{627AC2DE-5A4F-41F5-0EBD-26EA12414288}"/>
              </a:ext>
            </a:extLst>
          </p:cNvPr>
          <p:cNvSpPr/>
          <p:nvPr/>
        </p:nvSpPr>
        <p:spPr>
          <a:xfrm>
            <a:off x="8180439" y="5860026"/>
            <a:ext cx="3323303" cy="39329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Prof. Dhanashree Tamhane</a:t>
            </a:r>
            <a:endParaRPr lang="en-IN" dirty="0"/>
          </a:p>
        </p:txBody>
      </p:sp>
    </p:spTree>
    <p:extLst>
      <p:ext uri="{BB962C8B-B14F-4D97-AF65-F5344CB8AC3E}">
        <p14:creationId xmlns:p14="http://schemas.microsoft.com/office/powerpoint/2010/main" val="2611669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F73771-0820-E158-133E-F170CD76CC8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68EFBDA-9B3A-F9BA-7C2C-8269DDDEC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D2F0560B-8F1F-ED53-A465-551710B60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83376336-FB98-0DA9-CCFD-DDF4607A32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86E79D-C38C-7E85-6204-549E00C6B17B}"/>
              </a:ext>
            </a:extLst>
          </p:cNvPr>
          <p:cNvSpPr>
            <a:spLocks noGrp="1"/>
          </p:cNvSpPr>
          <p:nvPr>
            <p:ph type="title"/>
          </p:nvPr>
        </p:nvSpPr>
        <p:spPr>
          <a:xfrm>
            <a:off x="373625" y="344129"/>
            <a:ext cx="11465949" cy="704088"/>
          </a:xfrm>
        </p:spPr>
        <p:txBody>
          <a:bodyPr>
            <a:noAutofit/>
          </a:bodyPr>
          <a:lstStyle/>
          <a:p>
            <a:r>
              <a:rPr lang="en-US" sz="2400" b="1" i="1" dirty="0"/>
              <a:t>Title: </a:t>
            </a:r>
            <a:r>
              <a:rPr lang="en-IN" sz="2400" b="1" i="1" dirty="0"/>
              <a:t>Implementation of Lamport Logical Clock Synchronization to Maintain Consistent Event Timestamps in a Distributed System</a:t>
            </a:r>
          </a:p>
        </p:txBody>
      </p:sp>
      <p:sp>
        <p:nvSpPr>
          <p:cNvPr id="14" name="Rectangle 13">
            <a:extLst>
              <a:ext uri="{FF2B5EF4-FFF2-40B4-BE49-F238E27FC236}">
                <a16:creationId xmlns:a16="http://schemas.microsoft.com/office/drawing/2014/main" id="{F5511192-3482-9B9C-E796-005A900E99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06D8993-2D0D-A528-E0DF-037BEDE698B1}"/>
              </a:ext>
            </a:extLst>
          </p:cNvPr>
          <p:cNvSpPr>
            <a:spLocks noGrp="1"/>
          </p:cNvSpPr>
          <p:nvPr>
            <p:ph idx="1"/>
          </p:nvPr>
        </p:nvSpPr>
        <p:spPr>
          <a:xfrm>
            <a:off x="442452" y="1307691"/>
            <a:ext cx="10911348" cy="4864510"/>
          </a:xfrm>
        </p:spPr>
        <p:txBody>
          <a:bodyPr>
            <a:normAutofit/>
          </a:bodyPr>
          <a:lstStyle/>
          <a:p>
            <a:pPr marL="0" indent="0">
              <a:buNone/>
            </a:pPr>
            <a:r>
              <a:rPr lang="en-US" sz="1400" b="1" dirty="0"/>
              <a:t>This is for your python project. </a:t>
            </a:r>
            <a:r>
              <a:rPr lang="en-US" sz="1400" b="1" dirty="0" err="1"/>
              <a:t>Javascript</a:t>
            </a:r>
            <a:r>
              <a:rPr lang="en-US" sz="1400" b="1" dirty="0"/>
              <a:t> projects will follow the same flow, but they will have </a:t>
            </a:r>
            <a:r>
              <a:rPr lang="en-US" sz="1400" b="1" dirty="0" err="1"/>
              <a:t>js</a:t>
            </a:r>
            <a:r>
              <a:rPr lang="en-US" sz="1400" b="1" dirty="0"/>
              <a:t> supported files.</a:t>
            </a:r>
          </a:p>
          <a:p>
            <a:pPr marL="0" indent="0">
              <a:buNone/>
            </a:pPr>
            <a:endParaRPr lang="en-US" sz="1400" b="1" dirty="0"/>
          </a:p>
          <a:p>
            <a:pPr marL="0" indent="0">
              <a:buNone/>
            </a:pPr>
            <a:r>
              <a:rPr lang="en-US" sz="1400" b="1" dirty="0"/>
              <a:t>Step 1:- </a:t>
            </a:r>
            <a:r>
              <a:rPr lang="en-US" sz="1400" dirty="0"/>
              <a:t>Go in your project folder. cd is the command to enter the folder. </a:t>
            </a:r>
          </a:p>
          <a:p>
            <a:pPr marL="0" indent="0">
              <a:buNone/>
            </a:pPr>
            <a:r>
              <a:rPr lang="en-US" sz="1400" dirty="0"/>
              <a:t>                Check your location by </a:t>
            </a:r>
            <a:r>
              <a:rPr lang="en-US" sz="1400" dirty="0" err="1"/>
              <a:t>pwd</a:t>
            </a:r>
            <a:r>
              <a:rPr lang="en-US" sz="1400" dirty="0"/>
              <a:t> command.</a:t>
            </a:r>
          </a:p>
          <a:p>
            <a:pPr marL="0" indent="0">
              <a:buNone/>
            </a:pPr>
            <a:endParaRPr lang="en-IN" sz="1400" b="1" dirty="0"/>
          </a:p>
          <a:p>
            <a:pPr marL="0" indent="0">
              <a:buNone/>
            </a:pPr>
            <a:r>
              <a:rPr lang="en-IN" sz="1400" b="1" dirty="0"/>
              <a:t>Step 2:- </a:t>
            </a:r>
            <a:r>
              <a:rPr lang="en-IN" sz="1400" dirty="0"/>
              <a:t>Create a new file called lamport_clock.py in your codebase for your mini project. </a:t>
            </a:r>
            <a:r>
              <a:rPr lang="en-IN" sz="1400" dirty="0" err="1"/>
              <a:t>Chatgpt</a:t>
            </a:r>
            <a:r>
              <a:rPr lang="en-IN" sz="1400" dirty="0"/>
              <a:t> will give you the script.</a:t>
            </a:r>
          </a:p>
          <a:p>
            <a:pPr marL="0" indent="0">
              <a:buNone/>
            </a:pPr>
            <a:endParaRPr lang="en-IN" sz="1400" dirty="0"/>
          </a:p>
          <a:p>
            <a:pPr marL="0" indent="0">
              <a:buNone/>
            </a:pPr>
            <a:endParaRPr lang="en-IN" sz="1400" dirty="0"/>
          </a:p>
          <a:p>
            <a:pPr marL="0" indent="0">
              <a:buNone/>
            </a:pPr>
            <a:br>
              <a:rPr lang="en-IN" sz="1400" dirty="0"/>
            </a:br>
            <a:endParaRPr lang="en-IN" sz="1400" dirty="0"/>
          </a:p>
        </p:txBody>
      </p:sp>
      <p:pic>
        <p:nvPicPr>
          <p:cNvPr id="15" name="Picture 14">
            <a:extLst>
              <a:ext uri="{FF2B5EF4-FFF2-40B4-BE49-F238E27FC236}">
                <a16:creationId xmlns:a16="http://schemas.microsoft.com/office/drawing/2014/main" id="{A58B98FF-9C47-D546-2C67-54E733CC20D5}"/>
              </a:ext>
            </a:extLst>
          </p:cNvPr>
          <p:cNvPicPr>
            <a:picLocks noChangeAspect="1"/>
          </p:cNvPicPr>
          <p:nvPr/>
        </p:nvPicPr>
        <p:blipFill>
          <a:blip r:embed="rId2"/>
          <a:stretch>
            <a:fillRect/>
          </a:stretch>
        </p:blipFill>
        <p:spPr>
          <a:xfrm>
            <a:off x="6514652" y="2094112"/>
            <a:ext cx="2610002" cy="357069"/>
          </a:xfrm>
          <a:prstGeom prst="rect">
            <a:avLst/>
          </a:prstGeom>
        </p:spPr>
      </p:pic>
      <p:pic>
        <p:nvPicPr>
          <p:cNvPr id="5" name="Picture 4">
            <a:extLst>
              <a:ext uri="{FF2B5EF4-FFF2-40B4-BE49-F238E27FC236}">
                <a16:creationId xmlns:a16="http://schemas.microsoft.com/office/drawing/2014/main" id="{5F1904F2-EC52-55FA-4AC0-B753CF909803}"/>
              </a:ext>
            </a:extLst>
          </p:cNvPr>
          <p:cNvPicPr>
            <a:picLocks noChangeAspect="1"/>
          </p:cNvPicPr>
          <p:nvPr/>
        </p:nvPicPr>
        <p:blipFill>
          <a:blip r:embed="rId3"/>
          <a:stretch>
            <a:fillRect/>
          </a:stretch>
        </p:blipFill>
        <p:spPr>
          <a:xfrm>
            <a:off x="1125356" y="3547040"/>
            <a:ext cx="3800606" cy="2625161"/>
          </a:xfrm>
          <a:prstGeom prst="rect">
            <a:avLst/>
          </a:prstGeom>
        </p:spPr>
      </p:pic>
    </p:spTree>
    <p:extLst>
      <p:ext uri="{BB962C8B-B14F-4D97-AF65-F5344CB8AC3E}">
        <p14:creationId xmlns:p14="http://schemas.microsoft.com/office/powerpoint/2010/main" val="3520583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104D1F-A983-F66F-74C5-7854A084646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F580F9-3DD9-DDAE-F27C-9D587D200B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17ADE01-8E8C-C212-F9DA-240DA8C58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AE7DB353-59D4-FAD7-9DCA-8C60F1DE6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2E6545C-CF97-3195-F40F-82A97C3E8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E7CCF44-565A-7E07-41D6-DC61EABD38BB}"/>
              </a:ext>
            </a:extLst>
          </p:cNvPr>
          <p:cNvSpPr>
            <a:spLocks noGrp="1"/>
          </p:cNvSpPr>
          <p:nvPr>
            <p:ph idx="1"/>
          </p:nvPr>
        </p:nvSpPr>
        <p:spPr>
          <a:xfrm>
            <a:off x="442452" y="524522"/>
            <a:ext cx="10911348" cy="5647679"/>
          </a:xfrm>
        </p:spPr>
        <p:txBody>
          <a:bodyPr>
            <a:normAutofit/>
          </a:bodyPr>
          <a:lstStyle/>
          <a:p>
            <a:pPr marL="0" indent="0">
              <a:buNone/>
            </a:pPr>
            <a:r>
              <a:rPr lang="en-IN" sz="1400" b="1" dirty="0"/>
              <a:t>Step 3:- </a:t>
            </a:r>
            <a:r>
              <a:rPr lang="en-IN" sz="1400" dirty="0"/>
              <a:t>Update your client and server files with Lamport codes. Also update the proto file. There will be no change in the </a:t>
            </a:r>
            <a:r>
              <a:rPr lang="en-IN" sz="1400" i="1" dirty="0"/>
              <a:t>requirements.txt</a:t>
            </a:r>
            <a:r>
              <a:rPr lang="en-IN" sz="1400" dirty="0"/>
              <a:t> file. Make sure your files are for your mini project. Save all the files.</a:t>
            </a:r>
          </a:p>
          <a:p>
            <a:pPr marL="0" indent="0">
              <a:buNone/>
            </a:pPr>
            <a:endParaRPr lang="en-IN" sz="1400" dirty="0"/>
          </a:p>
          <a:p>
            <a:pPr marL="0" indent="0">
              <a:buNone/>
            </a:pPr>
            <a:r>
              <a:rPr lang="en-IN" sz="1400" b="1" dirty="0"/>
              <a:t>Step 4:- </a:t>
            </a:r>
            <a:r>
              <a:rPr lang="en-IN" sz="1400" dirty="0"/>
              <a:t>Run </a:t>
            </a:r>
            <a:r>
              <a:rPr lang="en-IN" sz="1400" dirty="0" err="1"/>
              <a:t>grpc</a:t>
            </a:r>
            <a:r>
              <a:rPr lang="en-IN" sz="1400" dirty="0"/>
              <a:t> support files again so Lamport gets initiated. </a:t>
            </a:r>
            <a:br>
              <a:rPr lang="en-IN" sz="1400" dirty="0"/>
            </a:br>
            <a:r>
              <a:rPr lang="en-IN" sz="1400" dirty="0"/>
              <a:t>python -m </a:t>
            </a:r>
            <a:r>
              <a:rPr lang="en-IN" sz="1400" dirty="0" err="1"/>
              <a:t>grpc_tools.protoc</a:t>
            </a:r>
            <a:r>
              <a:rPr lang="en-IN" sz="1400" dirty="0"/>
              <a:t> -I=proto --</a:t>
            </a:r>
            <a:r>
              <a:rPr lang="en-IN" sz="1400" dirty="0" err="1"/>
              <a:t>python_out</a:t>
            </a:r>
            <a:r>
              <a:rPr lang="en-IN" sz="1400" dirty="0"/>
              <a:t>=. --</a:t>
            </a:r>
            <a:r>
              <a:rPr lang="en-IN" sz="1400" dirty="0" err="1"/>
              <a:t>grpc_python_out</a:t>
            </a:r>
            <a:r>
              <a:rPr lang="en-IN" sz="1400" dirty="0"/>
              <a:t>=. proto/</a:t>
            </a:r>
            <a:r>
              <a:rPr lang="en-IN" sz="1400" dirty="0" err="1"/>
              <a:t>inventory.proto</a:t>
            </a:r>
            <a:br>
              <a:rPr lang="en-IN" sz="1400" dirty="0"/>
            </a:br>
            <a:endParaRPr lang="en-IN" sz="1400" dirty="0"/>
          </a:p>
          <a:p>
            <a:pPr marL="0" indent="0">
              <a:buNone/>
            </a:pPr>
            <a:r>
              <a:rPr lang="en-IN" sz="1400" b="1" dirty="0"/>
              <a:t>Step 5:- </a:t>
            </a:r>
            <a:r>
              <a:rPr lang="en-IN" sz="1400" dirty="0"/>
              <a:t>Create a virtual environment </a:t>
            </a:r>
          </a:p>
          <a:p>
            <a:pPr marL="0" indent="0">
              <a:buNone/>
            </a:pPr>
            <a:endParaRPr lang="en-IN" sz="1400" dirty="0"/>
          </a:p>
          <a:p>
            <a:pPr marL="0" indent="0">
              <a:buNone/>
            </a:pPr>
            <a:r>
              <a:rPr lang="en-IN" sz="1400" b="1" dirty="0"/>
              <a:t>Step 6:- </a:t>
            </a:r>
            <a:r>
              <a:rPr lang="en-IN" sz="1400" dirty="0"/>
              <a:t>Activate the virtual environment. (</a:t>
            </a:r>
            <a:r>
              <a:rPr lang="en-IN" sz="1400" dirty="0" err="1"/>
              <a:t>venv</a:t>
            </a:r>
            <a:r>
              <a:rPr lang="en-IN" sz="1400" dirty="0"/>
              <a:t> shows its active)</a:t>
            </a:r>
            <a:br>
              <a:rPr lang="en-IN" sz="1400" dirty="0"/>
            </a:br>
            <a:endParaRPr lang="en-IN" sz="1400" dirty="0"/>
          </a:p>
          <a:p>
            <a:pPr marL="0" indent="0">
              <a:buNone/>
            </a:pPr>
            <a:endParaRPr lang="en-IN" sz="1400" dirty="0"/>
          </a:p>
          <a:p>
            <a:pPr marL="0" indent="0">
              <a:buNone/>
            </a:pPr>
            <a:endParaRPr lang="en-IN" sz="1400" dirty="0"/>
          </a:p>
          <a:p>
            <a:pPr marL="0" indent="0">
              <a:buNone/>
            </a:pPr>
            <a:r>
              <a:rPr lang="en-IN" sz="1400" b="1" dirty="0"/>
              <a:t>Step 7:- </a:t>
            </a:r>
            <a:r>
              <a:rPr lang="en-IN" sz="1400" dirty="0"/>
              <a:t>Run  the inventory server file.</a:t>
            </a:r>
          </a:p>
        </p:txBody>
      </p:sp>
      <p:pic>
        <p:nvPicPr>
          <p:cNvPr id="7" name="Picture 6">
            <a:extLst>
              <a:ext uri="{FF2B5EF4-FFF2-40B4-BE49-F238E27FC236}">
                <a16:creationId xmlns:a16="http://schemas.microsoft.com/office/drawing/2014/main" id="{E695FAF8-FA2C-1C41-736A-21ACE202A04D}"/>
              </a:ext>
            </a:extLst>
          </p:cNvPr>
          <p:cNvPicPr>
            <a:picLocks noChangeAspect="1"/>
          </p:cNvPicPr>
          <p:nvPr/>
        </p:nvPicPr>
        <p:blipFill>
          <a:blip r:embed="rId2"/>
          <a:stretch>
            <a:fillRect/>
          </a:stretch>
        </p:blipFill>
        <p:spPr>
          <a:xfrm>
            <a:off x="3617043" y="2317179"/>
            <a:ext cx="3405229" cy="357070"/>
          </a:xfrm>
          <a:prstGeom prst="rect">
            <a:avLst/>
          </a:prstGeom>
        </p:spPr>
      </p:pic>
      <p:pic>
        <p:nvPicPr>
          <p:cNvPr id="11" name="Picture 10">
            <a:extLst>
              <a:ext uri="{FF2B5EF4-FFF2-40B4-BE49-F238E27FC236}">
                <a16:creationId xmlns:a16="http://schemas.microsoft.com/office/drawing/2014/main" id="{7CED4D12-40CD-A890-BDAC-B96FFBEB3856}"/>
              </a:ext>
            </a:extLst>
          </p:cNvPr>
          <p:cNvPicPr>
            <a:picLocks noChangeAspect="1"/>
          </p:cNvPicPr>
          <p:nvPr/>
        </p:nvPicPr>
        <p:blipFill>
          <a:blip r:embed="rId3"/>
          <a:stretch>
            <a:fillRect/>
          </a:stretch>
        </p:blipFill>
        <p:spPr>
          <a:xfrm>
            <a:off x="1192160" y="3348361"/>
            <a:ext cx="2979678" cy="457240"/>
          </a:xfrm>
          <a:prstGeom prst="rect">
            <a:avLst/>
          </a:prstGeom>
        </p:spPr>
      </p:pic>
      <p:pic>
        <p:nvPicPr>
          <p:cNvPr id="9" name="Picture 8">
            <a:extLst>
              <a:ext uri="{FF2B5EF4-FFF2-40B4-BE49-F238E27FC236}">
                <a16:creationId xmlns:a16="http://schemas.microsoft.com/office/drawing/2014/main" id="{E6134792-2A6E-5A62-8877-D4B9EAB04219}"/>
              </a:ext>
            </a:extLst>
          </p:cNvPr>
          <p:cNvPicPr>
            <a:picLocks noChangeAspect="1"/>
          </p:cNvPicPr>
          <p:nvPr/>
        </p:nvPicPr>
        <p:blipFill>
          <a:blip r:embed="rId4"/>
          <a:stretch>
            <a:fillRect/>
          </a:stretch>
        </p:blipFill>
        <p:spPr>
          <a:xfrm>
            <a:off x="1192160" y="4660323"/>
            <a:ext cx="3292125" cy="998307"/>
          </a:xfrm>
          <a:prstGeom prst="rect">
            <a:avLst/>
          </a:prstGeom>
        </p:spPr>
      </p:pic>
    </p:spTree>
    <p:extLst>
      <p:ext uri="{BB962C8B-B14F-4D97-AF65-F5344CB8AC3E}">
        <p14:creationId xmlns:p14="http://schemas.microsoft.com/office/powerpoint/2010/main" val="4162367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1EB172-49D5-A315-AEA1-CDEB94D8E2B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2A8115-1C53-6545-4C5D-6B5528C5E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26279801-4EFB-D949-58B5-DC09C9D570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ACB93EE-0915-3945-D948-AD9025AD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BF1C848F-483C-7EF9-1739-768804F6B2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B083670-BF18-12A5-4CF3-EA2793B1888D}"/>
              </a:ext>
            </a:extLst>
          </p:cNvPr>
          <p:cNvSpPr>
            <a:spLocks noGrp="1"/>
          </p:cNvSpPr>
          <p:nvPr>
            <p:ph idx="1"/>
          </p:nvPr>
        </p:nvSpPr>
        <p:spPr>
          <a:xfrm>
            <a:off x="442452" y="524522"/>
            <a:ext cx="10911348" cy="5647679"/>
          </a:xfrm>
        </p:spPr>
        <p:txBody>
          <a:bodyPr>
            <a:normAutofit/>
          </a:bodyPr>
          <a:lstStyle/>
          <a:p>
            <a:pPr marL="0" indent="0">
              <a:buNone/>
            </a:pPr>
            <a:r>
              <a:rPr lang="en-IN" sz="1400" b="1" dirty="0"/>
              <a:t>Step 8:- </a:t>
            </a:r>
            <a:r>
              <a:rPr lang="en-US" sz="1400" dirty="0"/>
              <a:t>Open new Git Bash window </a:t>
            </a:r>
            <a:r>
              <a:rPr lang="en-US" sz="1400" b="1" dirty="0"/>
              <a:t>(Do not close the server running bash window). </a:t>
            </a:r>
            <a:r>
              <a:rPr lang="en-US" sz="1400" dirty="0"/>
              <a:t>Go in your project window and just activate the virtual environment. </a:t>
            </a:r>
            <a:br>
              <a:rPr lang="en-US" sz="1400" dirty="0"/>
            </a:br>
            <a:endParaRPr lang="en-IN" sz="1400" dirty="0"/>
          </a:p>
          <a:p>
            <a:pPr marL="0" indent="0">
              <a:buNone/>
            </a:pPr>
            <a:r>
              <a:rPr lang="en-IN" sz="1400" b="1" dirty="0"/>
              <a:t>Step 9:- </a:t>
            </a:r>
            <a:r>
              <a:rPr lang="en-IN" sz="1400" dirty="0"/>
              <a:t>Now run the client file.</a:t>
            </a:r>
            <a:br>
              <a:rPr lang="en-IN" sz="1400" dirty="0"/>
            </a:br>
            <a:endParaRPr lang="en-IN" sz="1400" dirty="0"/>
          </a:p>
        </p:txBody>
      </p:sp>
      <p:pic>
        <p:nvPicPr>
          <p:cNvPr id="4" name="Picture 3">
            <a:extLst>
              <a:ext uri="{FF2B5EF4-FFF2-40B4-BE49-F238E27FC236}">
                <a16:creationId xmlns:a16="http://schemas.microsoft.com/office/drawing/2014/main" id="{7E500470-B6A4-30B8-28DC-BB6F75CB6FDD}"/>
              </a:ext>
            </a:extLst>
          </p:cNvPr>
          <p:cNvPicPr>
            <a:picLocks noChangeAspect="1"/>
          </p:cNvPicPr>
          <p:nvPr/>
        </p:nvPicPr>
        <p:blipFill>
          <a:blip r:embed="rId2"/>
          <a:stretch>
            <a:fillRect/>
          </a:stretch>
        </p:blipFill>
        <p:spPr>
          <a:xfrm>
            <a:off x="1270973" y="1700703"/>
            <a:ext cx="2711091" cy="3666798"/>
          </a:xfrm>
          <a:prstGeom prst="rect">
            <a:avLst/>
          </a:prstGeom>
        </p:spPr>
      </p:pic>
    </p:spTree>
    <p:extLst>
      <p:ext uri="{BB962C8B-B14F-4D97-AF65-F5344CB8AC3E}">
        <p14:creationId xmlns:p14="http://schemas.microsoft.com/office/powerpoint/2010/main" val="1395549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56F456-881C-626C-5C96-99FC1A40C5A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0487FC-A6A2-84A6-CC06-08A3518635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167C0A8A-C5A8-7736-9CB3-F937F8C11F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2CAFD126-7C3C-957B-1DEE-6F396721D1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63147532-C29D-F126-C9C5-BEC9FDC61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89F81BD-0A9A-8727-9131-98928EE359AB}"/>
              </a:ext>
            </a:extLst>
          </p:cNvPr>
          <p:cNvSpPr>
            <a:spLocks noGrp="1"/>
          </p:cNvSpPr>
          <p:nvPr>
            <p:ph idx="1"/>
          </p:nvPr>
        </p:nvSpPr>
        <p:spPr>
          <a:xfrm>
            <a:off x="442452" y="524522"/>
            <a:ext cx="10911348" cy="5647679"/>
          </a:xfrm>
        </p:spPr>
        <p:txBody>
          <a:bodyPr>
            <a:normAutofit/>
          </a:bodyPr>
          <a:lstStyle/>
          <a:p>
            <a:pPr marL="0" indent="0">
              <a:buNone/>
            </a:pPr>
            <a:r>
              <a:rPr lang="en-US" sz="1400" b="1" dirty="0"/>
              <a:t>Conclusion : </a:t>
            </a:r>
            <a:br>
              <a:rPr lang="en-US" sz="1400" dirty="0"/>
            </a:br>
            <a:br>
              <a:rPr lang="en-IN" sz="1400" dirty="0"/>
            </a:br>
            <a:r>
              <a:rPr lang="en-IN" sz="1400" dirty="0"/>
              <a:t>The experiment successfully implemented Lamport Logical Clock Synchronization in a Flask-based e-commerce application using </a:t>
            </a:r>
            <a:r>
              <a:rPr lang="en-IN" sz="1400" dirty="0" err="1"/>
              <a:t>gRPC</a:t>
            </a:r>
            <a:r>
              <a:rPr lang="en-IN" sz="1400" dirty="0"/>
              <a:t> for communication between the Order Service and the Inventory Service. Lamport timestamps were attached to every RPC request and response, enabling both the client and server to maintain a consistent logical ordering of distributed events. </a:t>
            </a:r>
          </a:p>
          <a:p>
            <a:pPr marL="0" indent="0">
              <a:buNone/>
            </a:pPr>
            <a:r>
              <a:rPr lang="en-IN" sz="1400" i="1" dirty="0"/>
              <a:t>Upon receiving a message, each service updated its logical clock using the Lamport algorithm, ensuring that causally related events were processed in the correct sequence without relying on synchronized physical clocks. </a:t>
            </a:r>
          </a:p>
          <a:p>
            <a:pPr marL="0" indent="0">
              <a:buNone/>
            </a:pPr>
            <a:r>
              <a:rPr lang="en-IN" sz="1400" dirty="0"/>
              <a:t>The successful execution of the application demonstrated reliable communication between distributed services while preserving event ordering, illustrating the practical application of Lamport clocks in distributed systems for maintaining consistency, traceability, and coordination across multiple services.</a:t>
            </a:r>
            <a:br>
              <a:rPr lang="en-IN" sz="1400" dirty="0"/>
            </a:br>
            <a:endParaRPr lang="en-IN" sz="1400" dirty="0"/>
          </a:p>
        </p:txBody>
      </p:sp>
    </p:spTree>
    <p:extLst>
      <p:ext uri="{BB962C8B-B14F-4D97-AF65-F5344CB8AC3E}">
        <p14:creationId xmlns:p14="http://schemas.microsoft.com/office/powerpoint/2010/main" val="1888989653"/>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7F84206994B843B5CF8C14B7AFF1B1" ma:contentTypeVersion="1" ma:contentTypeDescription="Create a new document." ma:contentTypeScope="" ma:versionID="1f15eba1e1821b9b7955c9c102e3d2f1">
  <xsd:schema xmlns:xsd="http://www.w3.org/2001/XMLSchema" xmlns:xs="http://www.w3.org/2001/XMLSchema" xmlns:p="http://schemas.microsoft.com/office/2006/metadata/properties" xmlns:ns2="cf0ad207-000d-47ee-b479-1abf82373c67" targetNamespace="http://schemas.microsoft.com/office/2006/metadata/properties" ma:root="true" ma:fieldsID="d205e8dfc4f2fea7b88a81bf2bf5aa59" ns2:_="">
    <xsd:import namespace="cf0ad207-000d-47ee-b479-1abf82373c67"/>
    <xsd:element name="properties">
      <xsd:complexType>
        <xsd:sequence>
          <xsd:element name="documentManagement">
            <xsd:complexType>
              <xsd:all>
                <xsd:element ref="ns2:Reference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0ad207-000d-47ee-b479-1abf82373c67"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cf0ad207-000d-47ee-b479-1abf82373c67" xsi:nil="true"/>
  </documentManagement>
</p:properties>
</file>

<file path=customXml/itemProps1.xml><?xml version="1.0" encoding="utf-8"?>
<ds:datastoreItem xmlns:ds="http://schemas.openxmlformats.org/officeDocument/2006/customXml" ds:itemID="{D900B072-B2BA-4637-A3BB-3E1ED0CBCF92}"/>
</file>

<file path=customXml/itemProps2.xml><?xml version="1.0" encoding="utf-8"?>
<ds:datastoreItem xmlns:ds="http://schemas.openxmlformats.org/officeDocument/2006/customXml" ds:itemID="{1DAAB878-3680-4627-8F9A-6C35255F24B6}"/>
</file>

<file path=customXml/itemProps3.xml><?xml version="1.0" encoding="utf-8"?>
<ds:datastoreItem xmlns:ds="http://schemas.openxmlformats.org/officeDocument/2006/customXml" ds:itemID="{53D09691-540F-412F-A4B0-14FFC325B02F}"/>
</file>

<file path=docProps/app.xml><?xml version="1.0" encoding="utf-8"?>
<Properties xmlns="http://schemas.openxmlformats.org/officeDocument/2006/extended-properties" xmlns:vt="http://schemas.openxmlformats.org/officeDocument/2006/docPropsVTypes">
  <TotalTime>253</TotalTime>
  <Words>910</Words>
  <Application>Microsoft Office PowerPoint</Application>
  <PresentationFormat>Widescreen</PresentationFormat>
  <Paragraphs>72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Avenir Next LT Pro</vt:lpstr>
      <vt:lpstr>Calibri</vt:lpstr>
      <vt:lpstr>AccentBoxVTI</vt:lpstr>
      <vt:lpstr>Experiment 2</vt:lpstr>
      <vt:lpstr>Title: Develop RPC APIs to Enable Communication Between Services for your mini project</vt:lpstr>
      <vt:lpstr>PowerPoint Presentation</vt:lpstr>
      <vt:lpstr>PowerPoint Presentation</vt:lpstr>
      <vt:lpstr>PowerPoint Presentation</vt:lpstr>
      <vt:lpstr>Experiment 3</vt:lpstr>
      <vt:lpstr>Title: Implementation of Lamport Logical Clock Synchronization to Maintain Consistent Event Timestamps in a Distributed System</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Dhanashree  Tamhane</dc:creator>
  <cp:lastModifiedBy>Dhanashree  Tamhane</cp:lastModifiedBy>
  <cp:revision>14</cp:revision>
  <dcterms:created xsi:type="dcterms:W3CDTF">2026-07-11T09:56:11Z</dcterms:created>
  <dcterms:modified xsi:type="dcterms:W3CDTF">2026-07-27T07:23:30Z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0x010100CF7F84206994B843B5CF8C14B7AFF1B1</vt:lpwstr>
  </property>
</Properties>
</file>